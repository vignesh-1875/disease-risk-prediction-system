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75" r:id="rId2"/>
    <p:sldId id="388" r:id="rId3"/>
    <p:sldId id="390" r:id="rId4"/>
    <p:sldId id="391" r:id="rId5"/>
    <p:sldId id="392" r:id="rId6"/>
    <p:sldId id="393" r:id="rId7"/>
    <p:sldId id="394" r:id="rId8"/>
    <p:sldId id="395" r:id="rId9"/>
    <p:sldId id="396" r:id="rId10"/>
    <p:sldId id="397" r:id="rId11"/>
    <p:sldId id="398" r:id="rId12"/>
    <p:sldId id="366" r:id="rId13"/>
    <p:sldId id="301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7" autoAdjust="0"/>
    <p:restoredTop sz="94590" autoAdjust="0"/>
  </p:normalViewPr>
  <p:slideViewPr>
    <p:cSldViewPr>
      <p:cViewPr varScale="1">
        <p:scale>
          <a:sx n="83" d="100"/>
          <a:sy n="83" d="100"/>
        </p:scale>
        <p:origin x="1690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2904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72FC0-3A6E-4FDF-98C7-05D53ADA3185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E15A7B-879F-45B5-9291-0F55AE53DB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3146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F44B48-72A2-4A15-9A9B-0DA2BF7C6B02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238FA3-189B-4AA8-9E46-1FED810FB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16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38FA3-189B-4AA8-9E46-1FED810FB61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739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38FA3-189B-4AA8-9E46-1FED810FB611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04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D94B3-44B9-44B7-85A7-F056FA607D46}" type="datetime3">
              <a:rPr lang="en-US" smtClean="0"/>
              <a:t>9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781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275DB-6D13-480B-AC77-F5019BDC5287}" type="datetime3">
              <a:rPr lang="en-US" smtClean="0"/>
              <a:t>9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148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A365F-315E-4D26-B736-3944439F5E09}" type="datetime3">
              <a:rPr lang="en-US" smtClean="0"/>
              <a:t>9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091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1E7AE-CF1A-4AE7-BD2C-F950D278A3DB}" type="datetime3">
              <a:rPr lang="en-US" smtClean="0"/>
              <a:t>9 October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900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D51F8-804C-441D-85CA-D64DC6F78406}" type="datetime3">
              <a:rPr lang="en-US" smtClean="0"/>
              <a:t>9 October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346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CCCDB-4457-4C48-985F-BD1C33DF88D2}" type="datetime3">
              <a:rPr lang="en-US" smtClean="0"/>
              <a:t>9 October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19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AF7E-7813-4879-8B55-5575B0080D39}" type="datetime3">
              <a:rPr lang="en-US" smtClean="0"/>
              <a:t>9 October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883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C94D0-F97F-48E4-A142-9DA614267486}" type="datetime3">
              <a:rPr lang="en-US" smtClean="0"/>
              <a:t>9 October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28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DA9B2-FBCA-4233-9590-C0754509BDB5}" type="datetime3">
              <a:rPr lang="en-US" smtClean="0"/>
              <a:t>9 October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269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10C5-081D-4FA6-9B78-BB56BEB475DD}" type="datetime3">
              <a:rPr lang="en-US" smtClean="0"/>
              <a:t>9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042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360AF-72BE-4445-B200-736511B20555}" type="datetime3">
              <a:rPr lang="en-US" smtClean="0"/>
              <a:t>9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61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10B6530B-5C68-4965-B8A9-8C18D26903BD}" type="datetime3">
              <a:rPr lang="en-US" smtClean="0"/>
              <a:t>9 October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/>
              <a:t>School of Computing - CSE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C0EC1BDC-9B67-430D-970A-E36C7517514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8940" y="228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4D4881-3C1B-4E10-8E47-87CE42F43D14}" type="datetime3">
              <a:rPr lang="en-US" smtClean="0"/>
              <a:t>9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School of Computing -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298940" y="177143"/>
            <a:ext cx="8610600" cy="6553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298940" y="1219200"/>
            <a:ext cx="8610600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231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50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ctrTitle"/>
          </p:nvPr>
        </p:nvSpPr>
        <p:spPr>
          <a:xfrm>
            <a:off x="571500" y="449944"/>
            <a:ext cx="7772400" cy="3505199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IN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</a:b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IN" sz="24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</a:br>
            <a:endParaRPr lang="en-US" sz="2400" dirty="0">
              <a:solidFill>
                <a:schemeClr val="accent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Subtitle 2"/>
          <p:cNvSpPr>
            <a:spLocks noGrp="1"/>
          </p:cNvSpPr>
          <p:nvPr>
            <p:ph type="subTitle" idx="1"/>
          </p:nvPr>
        </p:nvSpPr>
        <p:spPr>
          <a:xfrm>
            <a:off x="1293627" y="3512438"/>
            <a:ext cx="6709143" cy="885409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Disease Risk Prediction System project</a:t>
            </a:r>
            <a:endParaRPr lang="en-US" sz="5700" dirty="0">
              <a:solidFill>
                <a:srgbClr val="7030A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effectLst>
            <a:outerShdw blurRad="50800" dist="50800" dir="5400000" algn="ctr" rotWithShape="0">
              <a:schemeClr val="bg1"/>
            </a:outerShdw>
          </a:effectLst>
        </p:spPr>
        <p:txBody>
          <a:bodyPr/>
          <a:lstStyle/>
          <a:p>
            <a:fld id="{264FFBAA-9A17-4F9A-B1BD-20F0F5B52AB6}" type="datetime3">
              <a:rPr lang="en-US" smtClean="0"/>
              <a:t>9 October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School of Computing - CSE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C1BDC-9B67-430D-970A-E36C75175141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41C8031F-DC64-6DA7-5E1D-856D8119A1D3}"/>
              </a:ext>
            </a:extLst>
          </p:cNvPr>
          <p:cNvSpPr txBox="1"/>
          <p:nvPr/>
        </p:nvSpPr>
        <p:spPr>
          <a:xfrm>
            <a:off x="342898" y="2245640"/>
            <a:ext cx="8610599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DEPARTMENT OF COMPUTER SCIENCE AND ENGINEERING</a:t>
            </a:r>
          </a:p>
          <a:p>
            <a:pPr algn="ctr"/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b="1" dirty="0"/>
              <a:t>Professional Training I</a:t>
            </a:r>
          </a:p>
        </p:txBody>
      </p:sp>
      <p:sp>
        <p:nvSpPr>
          <p:cNvPr id="29" name="Subtitle 2">
            <a:extLst>
              <a:ext uri="{FF2B5EF4-FFF2-40B4-BE49-F238E27FC236}">
                <a16:creationId xmlns="" xmlns:a16="http://schemas.microsoft.com/office/drawing/2014/main" id="{431E86DB-7CEA-B3DC-1DF2-33457A550B1A}"/>
              </a:ext>
            </a:extLst>
          </p:cNvPr>
          <p:cNvSpPr txBox="1">
            <a:spLocks/>
          </p:cNvSpPr>
          <p:nvPr/>
        </p:nvSpPr>
        <p:spPr>
          <a:xfrm>
            <a:off x="457200" y="4901084"/>
            <a:ext cx="8381999" cy="14878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b="1" dirty="0">
                <a:solidFill>
                  <a:schemeClr val="tx1"/>
                </a:solidFill>
              </a:rPr>
              <a:t>Mohamed </a:t>
            </a:r>
            <a:r>
              <a:rPr lang="en-US" sz="2400" b="1" dirty="0" err="1">
                <a:solidFill>
                  <a:schemeClr val="tx1"/>
                </a:solidFill>
              </a:rPr>
              <a:t>Shafi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</a:rPr>
              <a:t>S                                                          GUIDE   </a:t>
            </a:r>
          </a:p>
          <a:p>
            <a:pPr algn="l"/>
            <a:r>
              <a:rPr lang="en-US" sz="2400" b="1" dirty="0" err="1" smtClean="0">
                <a:solidFill>
                  <a:schemeClr val="tx1"/>
                </a:solidFill>
              </a:rPr>
              <a:t>Thanga</a:t>
            </a:r>
            <a:r>
              <a:rPr lang="en-US" sz="2400" b="1" dirty="0" smtClean="0">
                <a:solidFill>
                  <a:schemeClr val="tx1"/>
                </a:solidFill>
              </a:rPr>
              <a:t> Vignesh Raja S                                            </a:t>
            </a:r>
            <a:r>
              <a:rPr lang="en-US" sz="2400" b="1" dirty="0" err="1" smtClean="0">
                <a:solidFill>
                  <a:schemeClr val="tx1"/>
                </a:solidFill>
              </a:rPr>
              <a:t>Dr.R.Rajalakshmi</a:t>
            </a:r>
            <a:r>
              <a:rPr lang="en-US" sz="2400" b="1" dirty="0" smtClean="0">
                <a:solidFill>
                  <a:schemeClr val="tx1"/>
                </a:solidFill>
              </a:rPr>
              <a:t>                                                  </a:t>
            </a:r>
            <a:endParaRPr lang="en-US" sz="2400" b="1" dirty="0">
              <a:solidFill>
                <a:schemeClr val="tx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352" y="319093"/>
            <a:ext cx="8496301" cy="20431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993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Certificate</a:t>
            </a:r>
          </a:p>
          <a:p>
            <a:r>
              <a:rPr lang="en-US" dirty="0"/>
              <a:t>Abstract</a:t>
            </a:r>
          </a:p>
          <a:p>
            <a:r>
              <a:rPr lang="en-US" dirty="0"/>
              <a:t>Introduction</a:t>
            </a:r>
          </a:p>
          <a:p>
            <a:r>
              <a:rPr lang="en-US" dirty="0"/>
              <a:t>Objective</a:t>
            </a:r>
          </a:p>
          <a:p>
            <a:r>
              <a:rPr lang="en-US" dirty="0"/>
              <a:t>System Architecture / Ideation Map</a:t>
            </a:r>
          </a:p>
          <a:p>
            <a:r>
              <a:rPr lang="en-US" dirty="0"/>
              <a:t>Module Implementation</a:t>
            </a:r>
          </a:p>
          <a:p>
            <a:r>
              <a:rPr lang="en-US" dirty="0"/>
              <a:t>Results and Discussions</a:t>
            </a:r>
          </a:p>
          <a:p>
            <a:r>
              <a:rPr lang="en-US" dirty="0"/>
              <a:t>Conclusion</a:t>
            </a:r>
          </a:p>
          <a:p>
            <a:r>
              <a:rPr lang="en-US" dirty="0"/>
              <a:t>References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275DB-6D13-480B-AC77-F5019BDC5287}" type="datetime3">
              <a:rPr lang="en-US" smtClean="0"/>
              <a:t>9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899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5459F68-BEA2-7D83-83CC-DB2FA3DB8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COURSE CERTIFICATE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97B7C33-DB32-8A92-0FB9-94A237F81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ACB38E7-C314-D639-6C8E-0B5C6D517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359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72000"/>
          </a:xfrm>
        </p:spPr>
        <p:txBody>
          <a:bodyPr wrap="square">
            <a:normAutofit lnSpcReduction="10000"/>
          </a:bodyPr>
          <a:lstStyle/>
          <a:p>
            <a:pPr>
              <a:spcAft>
                <a:spcPts val="600"/>
              </a:spcAft>
            </a:pPr>
            <a:r>
              <a:rPr sz="2000" b="0">
                <a:latin typeface="Arial"/>
              </a:rPr>
              <a:t>Heart disease is a leading cause of death worldwide, and early screening can support timely medical consultation.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Arial"/>
              </a:rPr>
              <a:t>This project is a web-based Heart Disease Risk Prediction System that estimates a patient's risk from 13 clinical parameters.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Arial"/>
              </a:rPr>
              <a:t>A Flask REST API validates the input, scales it with a StandardScaler and predicts using a pre-trained Random Forest model.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Arial"/>
              </a:rPr>
              <a:t>The probability is mapped to Low (0–39%), Medium (40–69%) or High (70–100%) risk and shown with the most influential factors.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Arial"/>
              </a:rPr>
              <a:t>Users register, log in with JWT authentication, and keep a private prediction history in MongoDB Atlas.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Arial"/>
              </a:rPr>
              <a:t>The tool is for educational screening only and is not a medical diagnosis.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275DB-6D13-480B-AC77-F5019BDC5287}" type="datetime3">
              <a:rPr lang="en-US" smtClean="0"/>
              <a:t>9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72000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2000" b="0">
                <a:latin typeface="Arial"/>
              </a:rPr>
              <a:t>Cardiovascular disease is often detected late because routine risk assessment is manual and not easily accessible.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Arial"/>
              </a:rPr>
              <a:t>Machine-learning models trained on clinical datasets (UCI heart-disease style data) can quickly estimate risk from simple test values.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Arial"/>
              </a:rPr>
              <a:t>Most existing work stops at a notebook or model file; patients cannot use it directly.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Arial"/>
              </a:rPr>
              <a:t>This project wraps a trained model into a complete, secure application: form, API, database, dashboard and history.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Arial"/>
              </a:rPr>
              <a:t>Version 1 covers heart disease only; the modular design allows other disease predictors to be added later.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275DB-6D13-480B-AC77-F5019BDC5287}" type="datetime3">
              <a:rPr lang="en-US" smtClean="0"/>
              <a:t>9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72000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2000" b="0">
                <a:latin typeface="Arial"/>
              </a:rPr>
              <a:t>Build an accessible web application that estimates heart-disease risk from 13 clinical inputs.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Arial"/>
              </a:rPr>
              <a:t>Integrate the supplied model and scaler with strict feature ordering and input validation.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Arial"/>
              </a:rPr>
              <a:t>Provide secure user registration, login and per-user prediction history.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Arial"/>
              </a:rPr>
              <a:t>Present results as clear risk categories with top contributing factors and a dashboard of past assessments.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Arial"/>
              </a:rPr>
              <a:t>Keep the architecture modular, testable and ready for future disease modules.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275DB-6D13-480B-AC77-F5019BDC5287}" type="datetime3">
              <a:rPr lang="en-US" smtClean="0"/>
              <a:t>9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275DB-6D13-480B-AC77-F5019BDC5287}" type="datetime3">
              <a:rPr lang="en-US" smtClean="0"/>
              <a:t>9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7863840" cy="41498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4406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latin typeface="Arial"/>
              </a:rPr>
              <a:t>Fig 1: Three-tier architecture – Frontend, Flask API with ML engine, MongoDB Atlas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 – 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72000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700" b="1">
                <a:latin typeface="Arial"/>
              </a:rPr>
              <a:t>Authentication: </a:t>
            </a:r>
            <a:r>
              <a:rPr sz="1700" b="0">
                <a:latin typeface="Arial"/>
              </a:rPr>
              <a:t>register, login, logout, /me; passwords hashed with Werkzeug; HS256 JWT tokens (24 h expiry).</a:t>
            </a:r>
          </a:p>
          <a:p>
            <a:pPr>
              <a:spcAft>
                <a:spcPts val="600"/>
              </a:spcAft>
            </a:pPr>
            <a:r>
              <a:rPr sz="1700" b="1">
                <a:latin typeface="Arial"/>
              </a:rPr>
              <a:t>Preprocessing: </a:t>
            </a:r>
            <a:r>
              <a:rPr sz="1700" b="0">
                <a:latin typeface="Arial"/>
              </a:rPr>
              <a:t>validates 13 features (type, integer / range checks) and fixes the feature order.</a:t>
            </a:r>
          </a:p>
          <a:p>
            <a:pPr>
              <a:spcAft>
                <a:spcPts val="600"/>
              </a:spcAft>
            </a:pPr>
            <a:r>
              <a:rPr sz="1700" b="1">
                <a:latin typeface="Arial"/>
              </a:rPr>
              <a:t>Predictor: </a:t>
            </a:r>
            <a:r>
              <a:rPr sz="1700" b="0">
                <a:latin typeface="Arial"/>
              </a:rPr>
              <a:t>loads heart_model.pkl and scaler.pkl, returns prediction, probability, risk level and top-5 factors.</a:t>
            </a:r>
          </a:p>
          <a:p>
            <a:pPr>
              <a:spcAft>
                <a:spcPts val="600"/>
              </a:spcAft>
            </a:pPr>
            <a:r>
              <a:rPr sz="1700" b="1">
                <a:latin typeface="Arial"/>
              </a:rPr>
              <a:t>Prediction API: </a:t>
            </a:r>
            <a:r>
              <a:rPr sz="1700" b="0">
                <a:latin typeface="Arial"/>
              </a:rPr>
              <a:t>POST /api/prediction/heart, GET /history, GET /&lt;id&gt;; records are scoped to the logged-in user.</a:t>
            </a:r>
          </a:p>
          <a:p>
            <a:pPr>
              <a:spcAft>
                <a:spcPts val="600"/>
              </a:spcAft>
            </a:pPr>
            <a:r>
              <a:rPr sz="1700" b="1">
                <a:latin typeface="Arial"/>
              </a:rPr>
              <a:t>User API: </a:t>
            </a:r>
            <a:r>
              <a:rPr sz="1700" b="0">
                <a:latin typeface="Arial"/>
              </a:rPr>
              <a:t>profile view and update; health check endpoint for monitoring.</a:t>
            </a:r>
          </a:p>
          <a:p>
            <a:pPr>
              <a:spcAft>
                <a:spcPts val="600"/>
              </a:spcAft>
            </a:pPr>
            <a:r>
              <a:rPr sz="1700" b="1">
                <a:latin typeface="Arial"/>
              </a:rPr>
              <a:t>Training scaffold: </a:t>
            </a:r>
            <a:r>
              <a:rPr sz="1700" b="0">
                <a:latin typeface="Arial"/>
              </a:rPr>
              <a:t>compares Logistic Regression, Random Forest and SVM using accuracy, precision, recall, F1 and ROC-AUC.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275DB-6D13-480B-AC77-F5019BDC5287}" type="datetime3">
              <a:rPr lang="en-US" smtClean="0"/>
              <a:t>9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 – FRONTEND &amp; 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1737360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600" b="1">
                <a:latin typeface="Arial"/>
              </a:rPr>
              <a:t>Frontend: </a:t>
            </a:r>
            <a:r>
              <a:rPr sz="1600" b="0">
                <a:latin typeface="Arial"/>
              </a:rPr>
              <a:t>static HTML/CSS/JS pages – login, register, health form, results, history, dashboard with Chart.js doughnut.</a:t>
            </a:r>
          </a:p>
          <a:p>
            <a:pPr>
              <a:spcAft>
                <a:spcPts val="600"/>
              </a:spcAft>
            </a:pPr>
            <a:r>
              <a:rPr sz="1600" b="1">
                <a:latin typeface="Arial"/>
              </a:rPr>
              <a:t>MongoDB: </a:t>
            </a:r>
            <a:r>
              <a:rPr sz="1600" b="0">
                <a:latin typeface="Arial"/>
              </a:rPr>
              <a:t>users, predictions, health_profiles, model_logs; indexes on users.email and predictions(user_id, created_at).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275DB-6D13-480B-AC77-F5019BDC5287}" type="datetime3">
              <a:rPr lang="en-US" smtClean="0"/>
              <a:t>9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7" name="Picture 6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383280"/>
            <a:ext cx="7680960" cy="24219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486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latin typeface="Arial"/>
              </a:rPr>
              <a:t>Fig 2: End-to-end user workflow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AND DISCUSSIONS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1371600"/>
            <a:ext cx="4206240" cy="4206240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400" b="1">
                <a:latin typeface="Arial"/>
              </a:rPr>
              <a:t>Sample input </a:t>
            </a:r>
            <a:r>
              <a:rPr sz="1400" b="0">
                <a:latin typeface="Arial"/>
              </a:rPr>
              <a:t>(age 65, chol 300, 3.5 ST depression, 2 vessels) → probability 0.75 → HIGH risk.</a:t>
            </a:r>
          </a:p>
          <a:p>
            <a:pPr>
              <a:spcAft>
                <a:spcPts val="600"/>
              </a:spcAft>
            </a:pPr>
            <a:r>
              <a:rPr sz="1400" b="1">
                <a:latin typeface="Arial"/>
              </a:rPr>
              <a:t>Top factors: </a:t>
            </a:r>
            <a:r>
              <a:rPr sz="1400" b="0">
                <a:latin typeface="Arial"/>
              </a:rPr>
              <a:t>max heart rate, chest-pain type, ST depression, major vessels, age.</a:t>
            </a:r>
          </a:p>
          <a:p>
            <a:pPr>
              <a:spcAft>
                <a:spcPts val="600"/>
              </a:spcAft>
            </a:pPr>
            <a:r>
              <a:rPr sz="1400" b="1">
                <a:latin typeface="Arial"/>
              </a:rPr>
              <a:t>Validation: </a:t>
            </a:r>
            <a:r>
              <a:rPr sz="1400" b="0">
                <a:latin typeface="Arial"/>
              </a:rPr>
              <a:t>out-of-range or missing inputs are rejected with clear errors.</a:t>
            </a:r>
          </a:p>
          <a:p>
            <a:pPr>
              <a:spcAft>
                <a:spcPts val="600"/>
              </a:spcAft>
            </a:pPr>
            <a:r>
              <a:rPr sz="1400" b="1">
                <a:latin typeface="Arial"/>
              </a:rPr>
              <a:t>Note: </a:t>
            </a:r>
            <a:r>
              <a:rPr sz="1400" b="0">
                <a:latin typeface="Arial"/>
              </a:rPr>
              <a:t>no accuracy claim is made for the supplied model; metrics need a held-out dataset.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275DB-6D13-480B-AC77-F5019BDC5287}" type="datetime3">
              <a:rPr lang="en-US" smtClean="0"/>
              <a:t>9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7" name="Picture 6" descr="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54480"/>
            <a:ext cx="4206240" cy="26439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latin typeface="Arial"/>
              </a:rPr>
              <a:t>Fig 3: Feature importance (Random Forest, 100 trees)</a:t>
            </a:r>
          </a:p>
        </p:txBody>
      </p:sp>
      <p:pic>
        <p:nvPicPr>
          <p:cNvPr id="9" name="Picture 8" descr="riskba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480560"/>
            <a:ext cx="3840480" cy="9495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72000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2000" b="0">
                <a:latin typeface="Arial"/>
              </a:rPr>
              <a:t>A complete, secure heart-risk screening application was built around a pre-trained Random Forest model.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Arial"/>
              </a:rPr>
              <a:t>The system turns 13 clinical values into an understandable risk category and stores each assessment per user.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Arial"/>
              </a:rPr>
              <a:t>Modular layers (UI, API, ML engine, database) make testing and extension easy.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Arial"/>
              </a:rPr>
              <a:t>Future work: more disease modules, validated clinical evaluation, model monitoring and report export.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Arial"/>
              </a:rPr>
              <a:t>The output is an educational estimate, not a medical diagnosis.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275DB-6D13-480B-AC77-F5019BDC5287}" type="datetime3">
              <a:rPr lang="en-US" smtClean="0"/>
              <a:t>9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15FA3D9-5B38-A267-7691-582DAE68A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BC309EE-F211-8F10-9087-6FE726000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88720"/>
            <a:ext cx="8229600" cy="5029200"/>
          </a:xfrm>
        </p:spPr>
        <p:txBody>
          <a:bodyPr>
            <a:noAutofit/>
          </a:bodyPr>
          <a:lstStyle/>
          <a:p>
            <a:pPr marL="0" lvl="0" indent="0" algn="just">
              <a:spcAft>
                <a:spcPts val="200"/>
              </a:spcAft>
              <a:buNone/>
            </a:pP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[1]. Ali, M.M. et al.: Heart disease prediction using supervised machine learning algorithms. Computers in Biology and Medicine 136, 104672 (2021).</a:t>
            </a:r>
          </a:p>
          <a:p>
            <a:pPr marL="0" lvl="0" indent="0" algn="just">
              <a:spcAft>
                <a:spcPts val="200"/>
              </a:spcAft>
              <a:buNone/>
            </a:pP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[2]. Benjamin, E.J. et al.: Heart disease and stroke statistics – 2019 update. Circulation 139(10), e56–e528 (2019).</a:t>
            </a:r>
          </a:p>
          <a:p>
            <a:pPr marL="0" lvl="0" indent="0" algn="just">
              <a:spcAft>
                <a:spcPts val="200"/>
              </a:spcAft>
              <a:buNone/>
            </a:pP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[3]. Breiman, L.: Random forests. Machine Learning 45(1), 5–32 (2001).</a:t>
            </a:r>
          </a:p>
          <a:p>
            <a:pPr marL="0" lvl="0" indent="0" algn="just">
              <a:spcAft>
                <a:spcPts val="200"/>
              </a:spcAft>
              <a:buNone/>
            </a:pP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[4]. Chodorow, K.: MongoDB: The Definitive Guide, 3rd ed. O'Reilly Media (2019).</a:t>
            </a:r>
          </a:p>
          <a:p>
            <a:pPr marL="0" lvl="0" indent="0" algn="just">
              <a:spcAft>
                <a:spcPts val="200"/>
              </a:spcAft>
              <a:buNone/>
            </a:pP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[5]. Detrano, R. et al.: International application of a new probability algorithm for the diagnosis of coronary artery disease. American Journal of Cardiology 64(5), 304–310 (1989).</a:t>
            </a:r>
          </a:p>
          <a:p>
            <a:pPr marL="0" lvl="0" indent="0" algn="just">
              <a:spcAft>
                <a:spcPts val="200"/>
              </a:spcAft>
              <a:buNone/>
            </a:pP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[6]. Fielding, R.T.: Architectural styles and the design of network-based software architectures. PhD thesis, UC Irvine (2000).</a:t>
            </a:r>
          </a:p>
          <a:p>
            <a:pPr marL="0" lvl="0" indent="0" algn="just">
              <a:spcAft>
                <a:spcPts val="200"/>
              </a:spcAft>
              <a:buNone/>
            </a:pP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[7]. Grinberg, M.: Flask Web Development, 2nd ed. O'Reilly Media (2018).</a:t>
            </a:r>
          </a:p>
          <a:p>
            <a:pPr marL="0" lvl="0" indent="0" algn="just">
              <a:spcAft>
                <a:spcPts val="200"/>
              </a:spcAft>
              <a:buNone/>
            </a:pP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[8]. Hastie, T., Tibshirani, R., Friedman, J.: The Elements of Statistical Learning, 2nd ed. Springer (2009).</a:t>
            </a:r>
          </a:p>
          <a:p>
            <a:pPr marL="0" lvl="0" indent="0" algn="just">
              <a:spcAft>
                <a:spcPts val="200"/>
              </a:spcAft>
              <a:buNone/>
            </a:pP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[9]. Jones, M., Bradley, J., Sakimura, N.: JSON Web Token (JWT). RFC 7519, IETF (2015).</a:t>
            </a:r>
          </a:p>
          <a:p>
            <a:pPr marL="0" lvl="0" indent="0" algn="just">
              <a:spcAft>
                <a:spcPts val="200"/>
              </a:spcAft>
              <a:buNone/>
            </a:pP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[10]. Krittanawong, C. et al.: Machine learning prediction in cardiovascular diseases: a meta-analysis. Scientific Reports 10, 16057 (2020).</a:t>
            </a:r>
          </a:p>
          <a:p>
            <a:pPr marL="0" lvl="0" indent="0" algn="just">
              <a:spcAft>
                <a:spcPts val="200"/>
              </a:spcAft>
              <a:buNone/>
            </a:pP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[11]. Mohan, S., Thirumalai, C., Srivastava, G.: Effective heart disease prediction using hybrid machine learning techniques. IEEE Access 7, 81542–81554 (2019).</a:t>
            </a:r>
          </a:p>
          <a:p>
            <a:pPr marL="0" lvl="0" indent="0" algn="just">
              <a:spcAft>
                <a:spcPts val="200"/>
              </a:spcAft>
              <a:buNone/>
            </a:pP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[12]. Pedregosa, F. et al.: Scikit-learn: machine learning in Python. Journal of Machine Learning Research 12, 2825–2830 (2011).</a:t>
            </a:r>
          </a:p>
          <a:p>
            <a:pPr marL="0" lvl="0" indent="0" algn="just">
              <a:spcAft>
                <a:spcPts val="200"/>
              </a:spcAft>
              <a:buNone/>
            </a:pP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[13]. Rajkomar, A., Dean, J., Kohane, I.: Machine learning in medicine. New England Journal of Medicine 380(14), 1347–1358 (2019).</a:t>
            </a:r>
          </a:p>
          <a:p>
            <a:pPr marL="0" lvl="0" indent="0" algn="just">
              <a:spcAft>
                <a:spcPts val="200"/>
              </a:spcAft>
              <a:buNone/>
            </a:pP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[14]. Weng, S.F. et al.: Can machine-learning improve cardiovascular risk prediction using routine clinical data? PLoS ONE 12(4), e0174944 (2017).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B427FE9-29DA-0E49-B4DE-4727923C5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2B0431B-9CC5-946D-2E4D-E25A5A48B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643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/>
              <a:t>THANK</a:t>
            </a:r>
            <a:r>
              <a:rPr lang="en-IN" dirty="0"/>
              <a:t> </a:t>
            </a:r>
            <a:r>
              <a:rPr lang="en-IN" sz="3600" dirty="0"/>
              <a:t>YOU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A9F4-4DB3-4EF1-A315-68E41BB689F2}" type="datetime3">
              <a:rPr lang="en-US" smtClean="0"/>
              <a:t>9 October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09600" y="2690336"/>
            <a:ext cx="791894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800" dirty="0"/>
              <a:t>We thank God, Our Department, Guide, Panel Members, Supportive Professors and all Technical and non Technical staff who helped us in our Project.</a:t>
            </a:r>
          </a:p>
        </p:txBody>
      </p:sp>
    </p:spTree>
    <p:extLst>
      <p:ext uri="{BB962C8B-B14F-4D97-AF65-F5344CB8AC3E}">
        <p14:creationId xmlns:p14="http://schemas.microsoft.com/office/powerpoint/2010/main" val="111132939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6236</TotalTime>
  <Words>1183</Words>
  <Application>Microsoft Office PowerPoint</Application>
  <PresentationFormat>On-screen Show (4:3)</PresentationFormat>
  <Paragraphs>118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Custom Design</vt:lpstr>
      <vt:lpstr>  </vt:lpstr>
      <vt:lpstr>AGENDA</vt:lpstr>
      <vt:lpstr>COURSE CERTIFICATE</vt:lpstr>
      <vt:lpstr>ABSTRACT</vt:lpstr>
      <vt:lpstr>INTRODUCTION</vt:lpstr>
      <vt:lpstr>OBJECTIVE</vt:lpstr>
      <vt:lpstr>SYSTEM ARCHITECTURE</vt:lpstr>
      <vt:lpstr>MODULES – BACKEND</vt:lpstr>
      <vt:lpstr>MODULES – FRONTEND &amp; DB</vt:lpstr>
      <vt:lpstr>RESULTS AND DISCUSSIONS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Microsoft account</cp:lastModifiedBy>
  <cp:revision>120</cp:revision>
  <dcterms:created xsi:type="dcterms:W3CDTF">2019-11-06T07:48:53Z</dcterms:created>
  <dcterms:modified xsi:type="dcterms:W3CDTF">2026-10-09T07:32:56Z</dcterms:modified>
</cp:coreProperties>
</file>